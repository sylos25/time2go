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541" r:id="rId2"/>
    <p:sldId id="569" r:id="rId3"/>
    <p:sldId id="570" r:id="rId4"/>
    <p:sldId id="539" r:id="rId5"/>
    <p:sldId id="566" r:id="rId6"/>
    <p:sldId id="568" r:id="rId7"/>
    <p:sldId id="561" r:id="rId8"/>
    <p:sldId id="563" r:id="rId9"/>
    <p:sldId id="540" r:id="rId10"/>
    <p:sldId id="535" r:id="rId11"/>
    <p:sldId id="537" r:id="rId12"/>
    <p:sldId id="536" r:id="rId13"/>
    <p:sldId id="545" r:id="rId14"/>
    <p:sldId id="552" r:id="rId15"/>
    <p:sldId id="571" r:id="rId16"/>
    <p:sldId id="573" r:id="rId17"/>
    <p:sldId id="579" r:id="rId18"/>
    <p:sldId id="551" r:id="rId19"/>
    <p:sldId id="548" r:id="rId20"/>
    <p:sldId id="555" r:id="rId21"/>
    <p:sldId id="558" r:id="rId22"/>
    <p:sldId id="564" r:id="rId23"/>
    <p:sldId id="575" r:id="rId24"/>
    <p:sldId id="576" r:id="rId25"/>
    <p:sldId id="577" r:id="rId26"/>
    <p:sldId id="578" r:id="rId27"/>
    <p:sldId id="532" r:id="rId28"/>
    <p:sldId id="543" r:id="rId29"/>
    <p:sldId id="531" r:id="rId3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E0D4"/>
    <a:srgbClr val="A6C2EC"/>
    <a:srgbClr val="DF8D8D"/>
    <a:srgbClr val="343433"/>
    <a:srgbClr val="4D4D4C"/>
    <a:srgbClr val="38AA00"/>
    <a:srgbClr val="FF6C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76" autoAdjust="0"/>
    <p:restoredTop sz="97242"/>
  </p:normalViewPr>
  <p:slideViewPr>
    <p:cSldViewPr snapToGrid="0">
      <p:cViewPr varScale="1">
        <p:scale>
          <a:sx n="52" d="100"/>
          <a:sy n="52" d="100"/>
        </p:scale>
        <p:origin x="782" y="58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jpe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149976-59ED-86DE-CAFB-F26E38C394F4}"/>
              </a:ext>
            </a:extLst>
          </p:cNvPr>
          <p:cNvSpPr/>
          <p:nvPr/>
        </p:nvSpPr>
        <p:spPr>
          <a:xfrm>
            <a:off x="2772990" y="3396195"/>
            <a:ext cx="6646019" cy="3305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CO" sz="2400" b="1" dirty="0">
                <a:solidFill>
                  <a:schemeClr val="bg1"/>
                </a:solidFill>
                <a:latin typeface="WORK SANS BOLD ROMAN" pitchFamily="2" charset="77"/>
              </a:rPr>
              <a:t>IMPLEMENTACIÓN DE UNA T.I DE TIPO SOFTWARE PARA LA DIFUSIÓN DE EVENTOS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defRPr sz="4000"/>
            </a:pPr>
            <a:endParaRPr lang="es-CO" sz="2400" b="1" dirty="0">
              <a:solidFill>
                <a:schemeClr val="bg1"/>
              </a:solidFill>
              <a:latin typeface="WORK SANS BOLD ROMAN" pitchFamily="2" charset="77"/>
              <a:ea typeface="+mj-ea"/>
              <a:cs typeface="+mj-cs"/>
              <a:sym typeface="Calibri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defRPr sz="4000"/>
            </a:pPr>
            <a:br>
              <a:rPr lang="es-ES_tradnl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</a:br>
            <a:endParaRPr lang="es-ES_tradnl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defRPr sz="4000"/>
            </a:pPr>
            <a:br>
              <a:rPr lang="es-ES_tradnl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</a:br>
            <a:r>
              <a:rPr lang="es-ES_tradnl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Centro de servicios empresariales y turísticos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defRPr sz="4000"/>
            </a:pPr>
            <a:endParaRPr lang="es-ES_tradnl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2025</a:t>
            </a:r>
            <a:br>
              <a:rPr lang="es-ES_tradnl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</a:br>
            <a:br>
              <a:rPr lang="es-ES_tradnl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</a:br>
            <a:endParaRPr lang="es-ES_tradnl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1783062" y="1042681"/>
            <a:ext cx="87086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8800" b="1" dirty="0">
                <a:solidFill>
                  <a:schemeClr val="bg1"/>
                </a:solidFill>
                <a:latin typeface="WORK SANS BOLD ROMAN" pitchFamily="2" charset="77"/>
              </a:rPr>
              <a:t>Time2Go</a:t>
            </a:r>
            <a:endParaRPr kumimoji="0" lang="es-CO" sz="8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>
            <a:off x="5013630" y="2471399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1521532" y="4898962"/>
            <a:ext cx="3589431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B9E388C9-E3D3-4158-857D-683BAB09EEB1}"/>
              </a:ext>
            </a:extLst>
          </p:cNvPr>
          <p:cNvSpPr txBox="1"/>
          <p:nvPr/>
        </p:nvSpPr>
        <p:spPr>
          <a:xfrm>
            <a:off x="3383681" y="554861"/>
            <a:ext cx="54246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800" dirty="0">
                <a:solidFill>
                  <a:srgbClr val="38AA00"/>
                </a:solidFill>
                <a:latin typeface="Arial Rounded MT Bold" panose="020F0704030504030204" pitchFamily="34" charset="0"/>
              </a:rPr>
              <a:t>ANALISTAS EN </a:t>
            </a:r>
          </a:p>
          <a:p>
            <a:pPr algn="ctr"/>
            <a:r>
              <a:rPr lang="es-MX" sz="2800" dirty="0">
                <a:solidFill>
                  <a:srgbClr val="38AA00"/>
                </a:solidFill>
                <a:latin typeface="Arial Rounded MT Bold" panose="020F0704030504030204" pitchFamily="34" charset="0"/>
              </a:rPr>
              <a:t>DESARROLLO DE SOFTWARE</a:t>
            </a:r>
            <a:endParaRPr lang="es-CO" sz="2800" dirty="0">
              <a:solidFill>
                <a:srgbClr val="38AA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4F8CE6-A7C3-41BE-B1A1-9465E39676B2}"/>
              </a:ext>
            </a:extLst>
          </p:cNvPr>
          <p:cNvSpPr txBox="1"/>
          <p:nvPr/>
        </p:nvSpPr>
        <p:spPr>
          <a:xfrm>
            <a:off x="1921483" y="4437298"/>
            <a:ext cx="277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rgbClr val="343433"/>
                </a:solidFill>
                <a:latin typeface="Arial Black" panose="020B0A04020102020204" pitchFamily="34" charset="0"/>
              </a:rPr>
              <a:t>Brayhan Orduz</a:t>
            </a:r>
            <a:endParaRPr lang="es-CO" sz="2400" dirty="0">
              <a:solidFill>
                <a:srgbClr val="343433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45F40D3-8BA8-4B89-8E0C-C453D6AF820F}"/>
              </a:ext>
            </a:extLst>
          </p:cNvPr>
          <p:cNvSpPr txBox="1"/>
          <p:nvPr/>
        </p:nvSpPr>
        <p:spPr>
          <a:xfrm>
            <a:off x="1502973" y="5041312"/>
            <a:ext cx="36079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rgbClr val="4D4D4C"/>
                </a:solidFill>
                <a:latin typeface="Aptos Narrow" panose="020B0004020202020204" pitchFamily="34" charset="0"/>
              </a:rPr>
              <a:t>A quien camino con nosotros en este proceso, compartiendo risas, ideas y desafíos. Este logro también es suyo.</a:t>
            </a:r>
            <a:endParaRPr lang="es-CO" sz="2000" dirty="0">
              <a:solidFill>
                <a:srgbClr val="4D4D4C"/>
              </a:solidFill>
              <a:latin typeface="Aptos Narrow" panose="020B00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ECC67C7-B2BA-47AC-BB14-A62C2C80E5D0}"/>
              </a:ext>
            </a:extLst>
          </p:cNvPr>
          <p:cNvSpPr txBox="1"/>
          <p:nvPr/>
        </p:nvSpPr>
        <p:spPr>
          <a:xfrm>
            <a:off x="7499549" y="4437297"/>
            <a:ext cx="277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rgbClr val="343433"/>
                </a:solidFill>
                <a:latin typeface="Arial Black" panose="020B0A04020102020204" pitchFamily="34" charset="0"/>
              </a:rPr>
              <a:t>William Rojas</a:t>
            </a:r>
            <a:endParaRPr lang="es-CO" sz="2400" dirty="0">
              <a:solidFill>
                <a:srgbClr val="343433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53134C7-8329-4D8A-B802-3D73B322ED71}"/>
              </a:ext>
            </a:extLst>
          </p:cNvPr>
          <p:cNvSpPr txBox="1"/>
          <p:nvPr/>
        </p:nvSpPr>
        <p:spPr>
          <a:xfrm>
            <a:off x="7081039" y="5041312"/>
            <a:ext cx="36079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rgbClr val="4D4D4C"/>
                </a:solidFill>
                <a:latin typeface="Aptos Narrow" panose="020B0004020202020204" pitchFamily="34" charset="0"/>
              </a:rPr>
              <a:t>A quien camino con nosotros en este proceso, compartiendo risas, ideas y desafíos. Este logro también es suyo.</a:t>
            </a:r>
            <a:endParaRPr lang="es-CO" sz="2000" dirty="0">
              <a:solidFill>
                <a:srgbClr val="4D4D4C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F44587D-18FA-4CE6-9985-24E97CA68101}"/>
              </a:ext>
            </a:extLst>
          </p:cNvPr>
          <p:cNvCxnSpPr>
            <a:cxnSpLocks/>
          </p:cNvCxnSpPr>
          <p:nvPr/>
        </p:nvCxnSpPr>
        <p:spPr>
          <a:xfrm>
            <a:off x="7099598" y="4913476"/>
            <a:ext cx="3589431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23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857C494-CF0B-4428-AF4E-76A1EA8AA085}"/>
              </a:ext>
            </a:extLst>
          </p:cNvPr>
          <p:cNvCxnSpPr>
            <a:cxnSpLocks/>
          </p:cNvCxnSpPr>
          <p:nvPr/>
        </p:nvCxnSpPr>
        <p:spPr>
          <a:xfrm>
            <a:off x="5891089" y="2573325"/>
            <a:ext cx="4018286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ED72EDD-8191-439A-A296-D19F6062ECA4}"/>
              </a:ext>
            </a:extLst>
          </p:cNvPr>
          <p:cNvSpPr txBox="1"/>
          <p:nvPr/>
        </p:nvSpPr>
        <p:spPr>
          <a:xfrm>
            <a:off x="1388464" y="498208"/>
            <a:ext cx="2794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rgbClr val="38AA00"/>
                </a:solidFill>
                <a:latin typeface="Arial Rounded MT Bold" panose="020F0704030504030204" pitchFamily="34" charset="0"/>
              </a:rPr>
              <a:t>Dedicatoria</a:t>
            </a:r>
            <a:endParaRPr lang="es-CO" sz="3600" dirty="0">
              <a:solidFill>
                <a:srgbClr val="38AA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CCEE0F0-1E56-4D31-85A8-F29AC93DC55B}"/>
              </a:ext>
            </a:extLst>
          </p:cNvPr>
          <p:cNvSpPr txBox="1"/>
          <p:nvPr/>
        </p:nvSpPr>
        <p:spPr>
          <a:xfrm>
            <a:off x="5796844" y="2140688"/>
            <a:ext cx="4112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rgbClr val="343433"/>
                </a:solidFill>
                <a:latin typeface="Arial Black" panose="020B0A04020102020204" pitchFamily="34" charset="0"/>
              </a:rPr>
              <a:t>Joel Santiago Martínez</a:t>
            </a:r>
            <a:endParaRPr lang="es-CO" sz="2400" dirty="0">
              <a:solidFill>
                <a:srgbClr val="343433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DE94B8-77C9-4353-97E4-C8F064E0375A}"/>
              </a:ext>
            </a:extLst>
          </p:cNvPr>
          <p:cNvSpPr txBox="1"/>
          <p:nvPr/>
        </p:nvSpPr>
        <p:spPr>
          <a:xfrm>
            <a:off x="5796844" y="4255644"/>
            <a:ext cx="2088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>
                <a:solidFill>
                  <a:srgbClr val="4D4D4C"/>
                </a:solidFill>
                <a:latin typeface="Aptos Narrow" panose="020B0004020202020204" pitchFamily="34" charset="0"/>
              </a:rPr>
              <a:t>GAES JOWIBRA</a:t>
            </a:r>
            <a:endParaRPr lang="es-CO" sz="2400" b="1" dirty="0">
              <a:solidFill>
                <a:srgbClr val="4D4D4C"/>
              </a:solidFill>
              <a:latin typeface="Aptos Narrow" panose="020B0004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3111915-5322-4B81-929A-A86E09EF8D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00" b="24301"/>
          <a:stretch/>
        </p:blipFill>
        <p:spPr>
          <a:xfrm>
            <a:off x="2785513" y="1839043"/>
            <a:ext cx="2569100" cy="3179913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4486742-024B-47C9-97FF-FFE819DFFC3F}"/>
              </a:ext>
            </a:extLst>
          </p:cNvPr>
          <p:cNvSpPr txBox="1"/>
          <p:nvPr/>
        </p:nvSpPr>
        <p:spPr>
          <a:xfrm>
            <a:off x="5796844" y="2921167"/>
            <a:ext cx="41125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rgbClr val="4D4D4C"/>
                </a:solidFill>
                <a:latin typeface="Aptos Narrow" panose="020B0004020202020204" pitchFamily="34" charset="0"/>
              </a:rPr>
              <a:t>A quien camino con nosotros en este proceso, compartiendo risas, ideas y desafíos. Este logro también es suyo.</a:t>
            </a:r>
            <a:endParaRPr lang="es-CO" sz="2000" dirty="0">
              <a:solidFill>
                <a:srgbClr val="4D4D4C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25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4A4208-7DDE-681C-B3CE-D7CE52BA4A83}"/>
              </a:ext>
            </a:extLst>
          </p:cNvPr>
          <p:cNvSpPr txBox="1"/>
          <p:nvPr/>
        </p:nvSpPr>
        <p:spPr>
          <a:xfrm>
            <a:off x="1182414" y="2373087"/>
            <a:ext cx="49135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dirty="0">
                <a:latin typeface="Aptos Narrow" panose="020B0004020202020204" pitchFamily="34" charset="0"/>
              </a:rPr>
              <a:t>Los eventos tienden a pasar desapercibidos para gran parte de los habitantes y turistas que se encuentran en una ciudad. La poca información emitida de estos actos es debido a una deficiente estrategia de difusión en donde la información alcanza solo a un público recurrente y específico. </a:t>
            </a:r>
            <a:endParaRPr kumimoji="0" lang="es-ES" sz="20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ptos Narrow" panose="020B0004020202020204" pitchFamily="34" charset="0"/>
            </a:endParaRPr>
          </a:p>
        </p:txBody>
      </p:sp>
      <p:pic>
        <p:nvPicPr>
          <p:cNvPr id="1026" name="Picture 2" descr="La conferencia publicitaria más honesta del mundo | Roberto Patxot">
            <a:extLst>
              <a:ext uri="{FF2B5EF4-FFF2-40B4-BE49-F238E27FC236}">
                <a16:creationId xmlns:a16="http://schemas.microsoft.com/office/drawing/2014/main" id="{4808D840-C6ED-484E-9BCD-5B7D50613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4" r="5854" b="48323"/>
          <a:stretch/>
        </p:blipFill>
        <p:spPr bwMode="auto">
          <a:xfrm>
            <a:off x="6371772" y="1863323"/>
            <a:ext cx="3822936" cy="153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anciones por gradas vacías en el fútbol español">
            <a:extLst>
              <a:ext uri="{FF2B5EF4-FFF2-40B4-BE49-F238E27FC236}">
                <a16:creationId xmlns:a16="http://schemas.microsoft.com/office/drawing/2014/main" id="{49765686-4409-4E4B-B79B-316F427461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4" t="32589" r="2682"/>
          <a:stretch/>
        </p:blipFill>
        <p:spPr bwMode="auto">
          <a:xfrm>
            <a:off x="6371772" y="3439756"/>
            <a:ext cx="3822936" cy="153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8F08DC1-6F87-4C0E-9505-12399389EEA6}"/>
              </a:ext>
            </a:extLst>
          </p:cNvPr>
          <p:cNvSpPr txBox="1"/>
          <p:nvPr/>
        </p:nvSpPr>
        <p:spPr>
          <a:xfrm>
            <a:off x="1182414" y="1863323"/>
            <a:ext cx="20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>
                <a:solidFill>
                  <a:srgbClr val="38AA00"/>
                </a:solidFill>
                <a:latin typeface="Arial Rounded MT Bold" panose="020F0704030504030204" pitchFamily="34" charset="0"/>
              </a:rPr>
              <a:t>Introducción</a:t>
            </a:r>
            <a:endParaRPr lang="es-CO" sz="2400" dirty="0">
              <a:solidFill>
                <a:srgbClr val="38AA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61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7BF3D4-33CD-4EEF-AF10-477DB58EA9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59" t="10702" r="3370" b="1268"/>
          <a:stretch/>
        </p:blipFill>
        <p:spPr>
          <a:xfrm>
            <a:off x="2727832" y="1959429"/>
            <a:ext cx="6797169" cy="341267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9DFDE82-64FF-47F4-8F75-E74D69F62D06}"/>
              </a:ext>
            </a:extLst>
          </p:cNvPr>
          <p:cNvSpPr txBox="1"/>
          <p:nvPr/>
        </p:nvSpPr>
        <p:spPr>
          <a:xfrm>
            <a:off x="7329216" y="5372100"/>
            <a:ext cx="21957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MX" sz="9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</a:rPr>
              <a:t>https://imct.gov.co/informe_observatorio/</a:t>
            </a:r>
            <a:endParaRPr kumimoji="0" lang="es-ES" sz="9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ptos Narrow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B683750-5B74-4F62-A426-D7A7566BA5FD}"/>
              </a:ext>
            </a:extLst>
          </p:cNvPr>
          <p:cNvSpPr txBox="1"/>
          <p:nvPr/>
        </p:nvSpPr>
        <p:spPr>
          <a:xfrm>
            <a:off x="4156526" y="1456872"/>
            <a:ext cx="3878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>
                <a:solidFill>
                  <a:srgbClr val="38AA00"/>
                </a:solidFill>
                <a:latin typeface="Arial Rounded MT Bold" panose="020F0704030504030204" pitchFamily="34" charset="0"/>
              </a:rPr>
              <a:t>Eventos con mayor aforo</a:t>
            </a:r>
            <a:endParaRPr lang="es-CO" sz="2400" dirty="0">
              <a:solidFill>
                <a:srgbClr val="38AA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74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9DFDE82-64FF-47F4-8F75-E74D69F62D06}"/>
              </a:ext>
            </a:extLst>
          </p:cNvPr>
          <p:cNvSpPr txBox="1"/>
          <p:nvPr/>
        </p:nvSpPr>
        <p:spPr>
          <a:xfrm>
            <a:off x="7329216" y="5107545"/>
            <a:ext cx="21957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MX" sz="9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</a:rPr>
              <a:t>https://imct.gov.co/informe_observatorio/</a:t>
            </a:r>
            <a:endParaRPr kumimoji="0" lang="es-ES" sz="9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ptos Narrow" panose="020B00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F26955F-2D6E-4EAC-A949-644A13A3D656}"/>
              </a:ext>
            </a:extLst>
          </p:cNvPr>
          <p:cNvGrpSpPr/>
          <p:nvPr/>
        </p:nvGrpSpPr>
        <p:grpSpPr>
          <a:xfrm>
            <a:off x="3595398" y="2431402"/>
            <a:ext cx="5929603" cy="2676143"/>
            <a:chOff x="2749940" y="2042677"/>
            <a:chExt cx="6858519" cy="3095380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4E378455-88B1-4661-A34F-26F3C01064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874" t="19196" r="61374" b="2556"/>
            <a:stretch/>
          </p:blipFill>
          <p:spPr>
            <a:xfrm>
              <a:off x="2749940" y="2042677"/>
              <a:ext cx="3346060" cy="3095380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D67799-D3D1-4926-91AF-A21E20BDBC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371" t="19196" r="1063" b="33840"/>
            <a:stretch/>
          </p:blipFill>
          <p:spPr>
            <a:xfrm>
              <a:off x="6096000" y="2289420"/>
              <a:ext cx="3512459" cy="1718721"/>
            </a:xfrm>
            <a:prstGeom prst="rect">
              <a:avLst/>
            </a:prstGeom>
          </p:spPr>
        </p:pic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99350BF5-5E47-46EE-BCF1-A5CF431161B8}"/>
              </a:ext>
            </a:extLst>
          </p:cNvPr>
          <p:cNvSpPr txBox="1"/>
          <p:nvPr/>
        </p:nvSpPr>
        <p:spPr>
          <a:xfrm>
            <a:off x="3233678" y="1845567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>
                <a:solidFill>
                  <a:srgbClr val="38AA00"/>
                </a:solidFill>
                <a:latin typeface="Arial Rounded MT Bold" panose="020F0704030504030204" pitchFamily="34" charset="0"/>
              </a:rPr>
              <a:t>¿Cómo se enteraron de los eventos?	</a:t>
            </a:r>
            <a:endParaRPr lang="es-CO" sz="2400" dirty="0">
              <a:solidFill>
                <a:srgbClr val="38AA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04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E418AFD-2F8A-DEB5-7C43-F7B50E0A0B05}"/>
              </a:ext>
            </a:extLst>
          </p:cNvPr>
          <p:cNvSpPr txBox="1"/>
          <p:nvPr/>
        </p:nvSpPr>
        <p:spPr>
          <a:xfrm>
            <a:off x="707918" y="307864"/>
            <a:ext cx="3870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rgbClr val="38AA00"/>
                </a:solidFill>
                <a:latin typeface="WORK SANS BOLD ROMAN"/>
              </a:rPr>
              <a:t>Árbol de problemas</a:t>
            </a:r>
            <a:endParaRPr lang="es-CO" sz="3600" dirty="0">
              <a:solidFill>
                <a:srgbClr val="38AA00"/>
              </a:solidFill>
              <a:latin typeface="WORK SANS BOLD ROMAN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1D9C6E8-F808-51FB-5DA3-5947B362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48" y="997314"/>
            <a:ext cx="10710507" cy="543598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97E01C6-B56E-B623-9A44-A4CA8DB57F6C}"/>
              </a:ext>
            </a:extLst>
          </p:cNvPr>
          <p:cNvSpPr/>
          <p:nvPr/>
        </p:nvSpPr>
        <p:spPr>
          <a:xfrm>
            <a:off x="3613352" y="3294487"/>
            <a:ext cx="4542503" cy="7925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>
                <a:solidFill>
                  <a:schemeClr val="tx1"/>
                </a:solidFill>
              </a:rPr>
              <a:t>Alto grado de desinformación acerca de los eventos las ciudades.</a:t>
            </a:r>
            <a:endParaRPr lang="es-CO" sz="2000" dirty="0">
              <a:solidFill>
                <a:schemeClr val="tx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6CBBB17-42C3-BC2F-547A-F4CEB9C4B9C7}"/>
              </a:ext>
            </a:extLst>
          </p:cNvPr>
          <p:cNvSpPr/>
          <p:nvPr/>
        </p:nvSpPr>
        <p:spPr>
          <a:xfrm>
            <a:off x="1148722" y="4710184"/>
            <a:ext cx="2988941" cy="646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Canales de comunicación ineficientes.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B7A8D57-8C58-4740-FDE5-121816ADC4DA}"/>
              </a:ext>
            </a:extLst>
          </p:cNvPr>
          <p:cNvSpPr/>
          <p:nvPr/>
        </p:nvSpPr>
        <p:spPr>
          <a:xfrm>
            <a:off x="4390132" y="5981352"/>
            <a:ext cx="2988941" cy="646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Ineficiencia operativa de los organizadores.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473D1CD-3F0D-4FB6-ED83-40038B5B646F}"/>
              </a:ext>
            </a:extLst>
          </p:cNvPr>
          <p:cNvSpPr/>
          <p:nvPr/>
        </p:nvSpPr>
        <p:spPr>
          <a:xfrm>
            <a:off x="4390132" y="4710184"/>
            <a:ext cx="2988941" cy="646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Contenido publicitario poco claro.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085885E-1C34-4F11-1CD9-5EA59546CF8D}"/>
              </a:ext>
            </a:extLst>
          </p:cNvPr>
          <p:cNvSpPr/>
          <p:nvPr/>
        </p:nvSpPr>
        <p:spPr>
          <a:xfrm>
            <a:off x="7948632" y="4710184"/>
            <a:ext cx="2988941" cy="646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Deficiente planeación de eventos y escenarios.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CEC546-1E81-6C37-89BB-C4CE88101834}"/>
              </a:ext>
            </a:extLst>
          </p:cNvPr>
          <p:cNvSpPr/>
          <p:nvPr/>
        </p:nvSpPr>
        <p:spPr>
          <a:xfrm>
            <a:off x="7814992" y="1726488"/>
            <a:ext cx="2988941" cy="1005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Desconocimiento de la oferta cultural, educativa y comunitaria.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C984EA3-7780-31EF-D250-9DDDF78E765D}"/>
              </a:ext>
            </a:extLst>
          </p:cNvPr>
          <p:cNvSpPr/>
          <p:nvPr/>
        </p:nvSpPr>
        <p:spPr>
          <a:xfrm>
            <a:off x="925839" y="2058854"/>
            <a:ext cx="2988941" cy="646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Limitada asistencia de personas al evento.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B66D42A-F80B-24C8-1F9E-8997F005BCFE}"/>
              </a:ext>
            </a:extLst>
          </p:cNvPr>
          <p:cNvSpPr/>
          <p:nvPr/>
        </p:nvSpPr>
        <p:spPr>
          <a:xfrm>
            <a:off x="4390129" y="2017456"/>
            <a:ext cx="2988941" cy="646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Desaprovechamiento de recursos invertidos.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39DD90E-1A8D-4CE4-79D8-BCD3007874A9}"/>
              </a:ext>
            </a:extLst>
          </p:cNvPr>
          <p:cNvSpPr/>
          <p:nvPr/>
        </p:nvSpPr>
        <p:spPr>
          <a:xfrm>
            <a:off x="952145" y="1046238"/>
            <a:ext cx="2988941" cy="646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Menor visibilidad de talentos locales.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078CF6D-D7D1-C3BF-DF7F-32E8E3628BC0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5884603" y="4087084"/>
            <a:ext cx="1" cy="62310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81C59B1-A4FC-175E-1FB7-F3DFD6D85232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643193" y="4414752"/>
            <a:ext cx="0" cy="29543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CF67A0B-1BDD-FC0A-7DFD-B97CF45EA7DA}"/>
              </a:ext>
            </a:extLst>
          </p:cNvPr>
          <p:cNvCxnSpPr>
            <a:cxnSpLocks/>
          </p:cNvCxnSpPr>
          <p:nvPr/>
        </p:nvCxnSpPr>
        <p:spPr>
          <a:xfrm flipH="1">
            <a:off x="2643193" y="4414752"/>
            <a:ext cx="679991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8197805-2BC7-4948-BA1F-7D0F2F62052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9443103" y="4414752"/>
            <a:ext cx="0" cy="29543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CFAF4EE-BA0F-4C70-BA68-957899420B7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643193" y="5356516"/>
            <a:ext cx="0" cy="29543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10B9756-9EFC-4FA1-B3B8-D3B84256F939}"/>
              </a:ext>
            </a:extLst>
          </p:cNvPr>
          <p:cNvCxnSpPr>
            <a:cxnSpLocks/>
          </p:cNvCxnSpPr>
          <p:nvPr/>
        </p:nvCxnSpPr>
        <p:spPr>
          <a:xfrm flipH="1">
            <a:off x="2643194" y="5655566"/>
            <a:ext cx="6799909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5658330-4779-4326-81E5-059337366E1E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443103" y="5356516"/>
            <a:ext cx="0" cy="29543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AF91A85C-29F1-4EA9-9C7E-5DA36F5DDBCC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5884603" y="5356516"/>
            <a:ext cx="0" cy="62483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C742FAE3-7B19-49FE-BDE3-8E439FF645A8}"/>
              </a:ext>
            </a:extLst>
          </p:cNvPr>
          <p:cNvCxnSpPr>
            <a:cxnSpLocks/>
          </p:cNvCxnSpPr>
          <p:nvPr/>
        </p:nvCxnSpPr>
        <p:spPr>
          <a:xfrm flipH="1">
            <a:off x="2420310" y="3060086"/>
            <a:ext cx="6928581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CE5156C-A51E-439B-9A6F-9A0135124982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884604" y="2663713"/>
            <a:ext cx="0" cy="63077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2264208-F47A-484B-86BD-173E62193CDA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9309463" y="2731677"/>
            <a:ext cx="0" cy="36178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B7DAC720-16FA-40EC-A872-E0308E313150}"/>
              </a:ext>
            </a:extLst>
          </p:cNvPr>
          <p:cNvCxnSpPr>
            <a:cxnSpLocks/>
          </p:cNvCxnSpPr>
          <p:nvPr/>
        </p:nvCxnSpPr>
        <p:spPr>
          <a:xfrm>
            <a:off x="2420310" y="2706276"/>
            <a:ext cx="0" cy="36178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339B069C-E5A4-4C2C-99A0-EC359DF7DE39}"/>
              </a:ext>
            </a:extLst>
          </p:cNvPr>
          <p:cNvCxnSpPr>
            <a:cxnSpLocks/>
          </p:cNvCxnSpPr>
          <p:nvPr/>
        </p:nvCxnSpPr>
        <p:spPr>
          <a:xfrm>
            <a:off x="2420309" y="1697072"/>
            <a:ext cx="0" cy="36178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15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E418AFD-2F8A-DEB5-7C43-F7B50E0A0B05}"/>
              </a:ext>
            </a:extLst>
          </p:cNvPr>
          <p:cNvSpPr txBox="1"/>
          <p:nvPr/>
        </p:nvSpPr>
        <p:spPr>
          <a:xfrm>
            <a:off x="707918" y="307864"/>
            <a:ext cx="3853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rgbClr val="38AA00"/>
                </a:solidFill>
                <a:latin typeface="WORK SANS BOLD ROMAN"/>
              </a:rPr>
              <a:t>Árbol de soluciones</a:t>
            </a:r>
            <a:endParaRPr lang="es-CO" sz="3600" dirty="0">
              <a:solidFill>
                <a:srgbClr val="38AA00"/>
              </a:solidFill>
              <a:latin typeface="WORK SANS BOLD ROMAN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1D9C6E8-F808-51FB-5DA3-5947B362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48" y="997314"/>
            <a:ext cx="10710507" cy="543598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97E01C6-B56E-B623-9A44-A4CA8DB57F6C}"/>
              </a:ext>
            </a:extLst>
          </p:cNvPr>
          <p:cNvSpPr/>
          <p:nvPr/>
        </p:nvSpPr>
        <p:spPr>
          <a:xfrm>
            <a:off x="3613352" y="3294487"/>
            <a:ext cx="4542503" cy="792597"/>
          </a:xfrm>
          <a:prstGeom prst="rect">
            <a:avLst/>
          </a:prstGeom>
          <a:solidFill>
            <a:srgbClr val="DF8D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>
                <a:solidFill>
                  <a:schemeClr val="tx1"/>
                </a:solidFill>
              </a:rPr>
              <a:t>Optima información acerca de los eventos en las ciudades.</a:t>
            </a:r>
            <a:endParaRPr lang="es-CO" sz="2000" dirty="0">
              <a:solidFill>
                <a:schemeClr val="tx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6CBBB17-42C3-BC2F-547A-F4CEB9C4B9C7}"/>
              </a:ext>
            </a:extLst>
          </p:cNvPr>
          <p:cNvSpPr/>
          <p:nvPr/>
        </p:nvSpPr>
        <p:spPr>
          <a:xfrm>
            <a:off x="1148722" y="4710184"/>
            <a:ext cx="2988941" cy="646332"/>
          </a:xfrm>
          <a:prstGeom prst="rect">
            <a:avLst/>
          </a:prstGeom>
          <a:solidFill>
            <a:srgbClr val="A6C2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Canales de comunicación eficientes.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B7A8D57-8C58-4740-FDE5-121816ADC4DA}"/>
              </a:ext>
            </a:extLst>
          </p:cNvPr>
          <p:cNvSpPr/>
          <p:nvPr/>
        </p:nvSpPr>
        <p:spPr>
          <a:xfrm>
            <a:off x="4390132" y="5981352"/>
            <a:ext cx="2988941" cy="646332"/>
          </a:xfrm>
          <a:prstGeom prst="rect">
            <a:avLst/>
          </a:prstGeom>
          <a:solidFill>
            <a:srgbClr val="A6C2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Eficiencia operativa de los organizadores.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473D1CD-3F0D-4FB6-ED83-40038B5B646F}"/>
              </a:ext>
            </a:extLst>
          </p:cNvPr>
          <p:cNvSpPr/>
          <p:nvPr/>
        </p:nvSpPr>
        <p:spPr>
          <a:xfrm>
            <a:off x="4390132" y="4710184"/>
            <a:ext cx="2988941" cy="646332"/>
          </a:xfrm>
          <a:prstGeom prst="rect">
            <a:avLst/>
          </a:prstGeom>
          <a:solidFill>
            <a:srgbClr val="A6C2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Contenido publicitario claro.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085885E-1C34-4F11-1CD9-5EA59546CF8D}"/>
              </a:ext>
            </a:extLst>
          </p:cNvPr>
          <p:cNvSpPr/>
          <p:nvPr/>
        </p:nvSpPr>
        <p:spPr>
          <a:xfrm>
            <a:off x="7948632" y="4710184"/>
            <a:ext cx="2988941" cy="646332"/>
          </a:xfrm>
          <a:prstGeom prst="rect">
            <a:avLst/>
          </a:prstGeom>
          <a:solidFill>
            <a:srgbClr val="A6C2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Eficiente planeación de eventos y escenarios.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CEC546-1E81-6C37-89BB-C4CE88101834}"/>
              </a:ext>
            </a:extLst>
          </p:cNvPr>
          <p:cNvSpPr/>
          <p:nvPr/>
        </p:nvSpPr>
        <p:spPr>
          <a:xfrm>
            <a:off x="7814992" y="1726488"/>
            <a:ext cx="2988941" cy="1005189"/>
          </a:xfrm>
          <a:prstGeom prst="rect">
            <a:avLst/>
          </a:prstGeom>
          <a:solidFill>
            <a:srgbClr val="98E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Conocimiento de la oferta cultural, educativa y comunitaria.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C984EA3-7780-31EF-D250-9DDDF78E765D}"/>
              </a:ext>
            </a:extLst>
          </p:cNvPr>
          <p:cNvSpPr/>
          <p:nvPr/>
        </p:nvSpPr>
        <p:spPr>
          <a:xfrm>
            <a:off x="925839" y="2058854"/>
            <a:ext cx="2988941" cy="646332"/>
          </a:xfrm>
          <a:prstGeom prst="rect">
            <a:avLst/>
          </a:prstGeom>
          <a:solidFill>
            <a:srgbClr val="98E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Asistencia de personas al evento.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B66D42A-F80B-24C8-1F9E-8997F005BCFE}"/>
              </a:ext>
            </a:extLst>
          </p:cNvPr>
          <p:cNvSpPr/>
          <p:nvPr/>
        </p:nvSpPr>
        <p:spPr>
          <a:xfrm>
            <a:off x="4390129" y="2017456"/>
            <a:ext cx="2988941" cy="646332"/>
          </a:xfrm>
          <a:prstGeom prst="rect">
            <a:avLst/>
          </a:prstGeom>
          <a:solidFill>
            <a:srgbClr val="98E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Aprovechamiento de recursos invertidos.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39DD90E-1A8D-4CE4-79D8-BCD3007874A9}"/>
              </a:ext>
            </a:extLst>
          </p:cNvPr>
          <p:cNvSpPr/>
          <p:nvPr/>
        </p:nvSpPr>
        <p:spPr>
          <a:xfrm>
            <a:off x="952145" y="1046238"/>
            <a:ext cx="2988941" cy="646332"/>
          </a:xfrm>
          <a:prstGeom prst="rect">
            <a:avLst/>
          </a:prstGeom>
          <a:solidFill>
            <a:srgbClr val="98E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Visibilidad de talentos locales.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078CF6D-D7D1-C3BF-DF7F-32E8E3628BC0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5884603" y="4087084"/>
            <a:ext cx="1" cy="62310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81C59B1-A4FC-175E-1FB7-F3DFD6D85232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643193" y="4414752"/>
            <a:ext cx="0" cy="29543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CF67A0B-1BDD-FC0A-7DFD-B97CF45EA7DA}"/>
              </a:ext>
            </a:extLst>
          </p:cNvPr>
          <p:cNvCxnSpPr>
            <a:cxnSpLocks/>
          </p:cNvCxnSpPr>
          <p:nvPr/>
        </p:nvCxnSpPr>
        <p:spPr>
          <a:xfrm flipH="1">
            <a:off x="2643193" y="4414752"/>
            <a:ext cx="679991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8197805-2BC7-4948-BA1F-7D0F2F62052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9443103" y="4414752"/>
            <a:ext cx="0" cy="29543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CFAF4EE-BA0F-4C70-BA68-957899420B7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643193" y="5356516"/>
            <a:ext cx="0" cy="29543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10B9756-9EFC-4FA1-B3B8-D3B84256F939}"/>
              </a:ext>
            </a:extLst>
          </p:cNvPr>
          <p:cNvCxnSpPr>
            <a:cxnSpLocks/>
          </p:cNvCxnSpPr>
          <p:nvPr/>
        </p:nvCxnSpPr>
        <p:spPr>
          <a:xfrm flipH="1">
            <a:off x="2643194" y="5655566"/>
            <a:ext cx="6799909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5658330-4779-4326-81E5-059337366E1E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443103" y="5356516"/>
            <a:ext cx="0" cy="29543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AF91A85C-29F1-4EA9-9C7E-5DA36F5DDBCC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5884603" y="5356516"/>
            <a:ext cx="0" cy="62483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C742FAE3-7B19-49FE-BDE3-8E439FF645A8}"/>
              </a:ext>
            </a:extLst>
          </p:cNvPr>
          <p:cNvCxnSpPr>
            <a:cxnSpLocks/>
          </p:cNvCxnSpPr>
          <p:nvPr/>
        </p:nvCxnSpPr>
        <p:spPr>
          <a:xfrm flipH="1">
            <a:off x="2420310" y="3060086"/>
            <a:ext cx="6928581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CE5156C-A51E-439B-9A6F-9A0135124982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884604" y="2663713"/>
            <a:ext cx="0" cy="63077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2264208-F47A-484B-86BD-173E62193CDA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9309463" y="2731677"/>
            <a:ext cx="0" cy="36178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B7DAC720-16FA-40EC-A872-E0308E313150}"/>
              </a:ext>
            </a:extLst>
          </p:cNvPr>
          <p:cNvCxnSpPr>
            <a:cxnSpLocks/>
          </p:cNvCxnSpPr>
          <p:nvPr/>
        </p:nvCxnSpPr>
        <p:spPr>
          <a:xfrm>
            <a:off x="2420310" y="2706276"/>
            <a:ext cx="0" cy="36178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339B069C-E5A4-4C2C-99A0-EC359DF7DE39}"/>
              </a:ext>
            </a:extLst>
          </p:cNvPr>
          <p:cNvCxnSpPr>
            <a:cxnSpLocks/>
          </p:cNvCxnSpPr>
          <p:nvPr/>
        </p:nvCxnSpPr>
        <p:spPr>
          <a:xfrm>
            <a:off x="2420309" y="1697072"/>
            <a:ext cx="0" cy="36178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61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1080089" y="2060770"/>
            <a:ext cx="6453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Justificación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0A3F6F-01F7-45BA-9D4F-F0B992A96ED4}"/>
              </a:ext>
            </a:extLst>
          </p:cNvPr>
          <p:cNvSpPr txBox="1"/>
          <p:nvPr/>
        </p:nvSpPr>
        <p:spPr>
          <a:xfrm>
            <a:off x="1080089" y="2984100"/>
            <a:ext cx="96567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419" sz="2000" dirty="0">
                <a:latin typeface="Aptos Narrow" panose="020B0004020202020204" pitchFamily="34" charset="0"/>
              </a:rPr>
              <a:t>La difusión ineficaz de los eventos impide que la ciudadanos y turistas accedan oportunamente a la oferta cultura, educativa o comunitaria. Como consecuencia se debilita el tejido social, se pierde el impacto y aumenta la desconexión entre la institución y la comunidad. Mejorar la difusión es la clave para fomentar la participación y fortalecer el humanización.</a:t>
            </a:r>
            <a:endParaRPr kumimoji="0" lang="es-ES" sz="20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8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2719670" y="5370784"/>
            <a:ext cx="675265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CO" sz="2400" b="1" dirty="0">
                <a:latin typeface="WORK SANS BOLD ROMAN" pitchFamily="2" charset="77"/>
              </a:rPr>
              <a:t>IMPLEMENTACIÓN DE UNA T.I DE TIPO SOFTWARE PARA LA DIFUSIÓN DE EVENTOS</a:t>
            </a:r>
            <a:endParaRPr lang="es-CO" sz="3200" b="1" dirty="0"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7" y="5182980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áfico 5">
            <a:extLst>
              <a:ext uri="{FF2B5EF4-FFF2-40B4-BE49-F238E27FC236}">
                <a16:creationId xmlns:a16="http://schemas.microsoft.com/office/drawing/2014/main" id="{11CED910-D871-4005-884F-575B0DF99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3289" y="437560"/>
            <a:ext cx="4745420" cy="474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1074876" y="2102817"/>
            <a:ext cx="3854368" cy="854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1800" b="1" dirty="0">
                <a:solidFill>
                  <a:srgbClr val="38AA00"/>
                </a:solidFill>
                <a:latin typeface="Work Sans Bold Roman"/>
              </a:rPr>
              <a:t>Implementar un sistema para optimizar la información acerca de los eventos en la ciudad. </a:t>
            </a:r>
            <a:endParaRPr lang="es-CO" sz="1400" b="1" dirty="0">
              <a:solidFill>
                <a:srgbClr val="38AA00"/>
              </a:solidFill>
              <a:latin typeface="Work Sans Bold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1074876" y="3212694"/>
            <a:ext cx="39690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BOLD ROMAN"/>
              </a:rPr>
              <a:t>Optimizar la información de los eventos para garantizar que la información llegue de manera clara y oportuna a la ciudadanía, promoviendo así una mayor participación e impacto social.</a:t>
            </a:r>
            <a:endParaRPr lang="es-419" sz="1600" dirty="0">
              <a:latin typeface="WORK SANS BOLD ROMAN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1186965" y="3042163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CBB8E863-134C-047E-564D-20E4D7521C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66" r="239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181CDAC-EF29-4BDF-8B03-7D0D1CE678CA}"/>
              </a:ext>
            </a:extLst>
          </p:cNvPr>
          <p:cNvSpPr txBox="1">
            <a:spLocks/>
          </p:cNvSpPr>
          <p:nvPr/>
        </p:nvSpPr>
        <p:spPr>
          <a:xfrm>
            <a:off x="1074876" y="1510562"/>
            <a:ext cx="3771776" cy="51053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3200" b="1" dirty="0">
                <a:solidFill>
                  <a:srgbClr val="38AA00"/>
                </a:solidFill>
                <a:latin typeface="Work Sans Bold Roman"/>
              </a:rPr>
              <a:t>Objetivo general</a:t>
            </a:r>
            <a:endParaRPr lang="es-CO" sz="2400" b="1" dirty="0">
              <a:solidFill>
                <a:srgbClr val="38AA00"/>
              </a:solidFill>
              <a:latin typeface="Work Sans Bold Roman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08273418-B2A4-4A6A-8753-2999F59857A7}"/>
              </a:ext>
            </a:extLst>
          </p:cNvPr>
          <p:cNvGrpSpPr/>
          <p:nvPr/>
        </p:nvGrpSpPr>
        <p:grpSpPr>
          <a:xfrm>
            <a:off x="6096000" y="2789936"/>
            <a:ext cx="6096000" cy="4068064"/>
            <a:chOff x="6096000" y="2789936"/>
            <a:chExt cx="6096000" cy="4068064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04B8650A-263B-D01D-1597-14352A0F9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2789936"/>
              <a:ext cx="6096000" cy="4068064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87B20472-4C61-4A08-9C63-6765B29B0277}"/>
                </a:ext>
              </a:extLst>
            </p:cNvPr>
            <p:cNvSpPr txBox="1"/>
            <p:nvPr/>
          </p:nvSpPr>
          <p:spPr>
            <a:xfrm>
              <a:off x="10647048" y="6344296"/>
              <a:ext cx="13998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chemeClr val="bg1"/>
                  </a:solidFill>
                  <a:latin typeface="WORK SANS BOLD ROMAN"/>
                </a:rPr>
                <a:t>Autor: Mauricio Olaya</a:t>
              </a:r>
              <a:endParaRPr lang="es-419" sz="1050" dirty="0">
                <a:solidFill>
                  <a:schemeClr val="bg1"/>
                </a:solidFill>
                <a:latin typeface="WORK SANS BOLD ROMAN"/>
              </a:endParaRP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6643DA15-B6A2-4038-8CB4-0583FA8D336E}"/>
              </a:ext>
            </a:extLst>
          </p:cNvPr>
          <p:cNvGrpSpPr/>
          <p:nvPr/>
        </p:nvGrpSpPr>
        <p:grpSpPr>
          <a:xfrm>
            <a:off x="6096001" y="1"/>
            <a:ext cx="6096000" cy="3554360"/>
            <a:chOff x="6096001" y="1"/>
            <a:chExt cx="6096000" cy="3554360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9F09E4E-44F6-2FC2-C0D5-BEA222F95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3326"/>
            <a:stretch/>
          </p:blipFill>
          <p:spPr>
            <a:xfrm>
              <a:off x="6096001" y="1"/>
              <a:ext cx="6096000" cy="3554360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AC7E398E-1A1D-4F3E-99FE-39785E48AE96}"/>
                </a:ext>
              </a:extLst>
            </p:cNvPr>
            <p:cNvSpPr txBox="1"/>
            <p:nvPr/>
          </p:nvSpPr>
          <p:spPr>
            <a:xfrm>
              <a:off x="10792191" y="3042163"/>
              <a:ext cx="13998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chemeClr val="bg1"/>
                  </a:solidFill>
                  <a:latin typeface="WORK SANS BOLD ROMAN"/>
                </a:rPr>
                <a:t>Autor: </a:t>
              </a:r>
              <a:r>
                <a:rPr lang="es-MX" sz="1050" dirty="0" err="1">
                  <a:solidFill>
                    <a:schemeClr val="bg1"/>
                  </a:solidFill>
                  <a:latin typeface="WORK SANS BOLD ROMAN"/>
                </a:rPr>
                <a:t>Jadi</a:t>
              </a:r>
              <a:r>
                <a:rPr lang="es-MX" sz="1050" dirty="0">
                  <a:solidFill>
                    <a:schemeClr val="bg1"/>
                  </a:solidFill>
                  <a:latin typeface="WORK SANS BOLD ROMAN"/>
                </a:rPr>
                <a:t> Carreño</a:t>
              </a:r>
              <a:endParaRPr lang="es-419" sz="1050" dirty="0">
                <a:solidFill>
                  <a:schemeClr val="bg1"/>
                </a:solidFill>
                <a:latin typeface="WORK SANS BOLD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1188095" y="850900"/>
            <a:ext cx="9815809" cy="490477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s-419" sz="3600" b="1" dirty="0">
                <a:solidFill>
                  <a:srgbClr val="4D4D4C"/>
                </a:solidFill>
                <a:latin typeface="Work Sans Bold Roman"/>
              </a:rPr>
              <a:t>Objetivos Específicos</a:t>
            </a:r>
            <a:endParaRPr kumimoji="0" lang="es-CO" sz="28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931525" y="2204134"/>
            <a:ext cx="48105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dirty="0"/>
              <a:t>Utilizar estrategias de comunicación para la difusión de los eventos.</a:t>
            </a:r>
          </a:p>
          <a:p>
            <a:pPr marL="342900" indent="-342900">
              <a:buAutoNum type="arabicPeriod"/>
            </a:pPr>
            <a:r>
              <a:rPr lang="es-MX" dirty="0"/>
              <a:t>Identificar el perfil y los hábitos de consumo de los diferentes segmentos poblacionales.</a:t>
            </a:r>
          </a:p>
          <a:p>
            <a:pPr marL="342900" indent="-342900">
              <a:buAutoNum type="arabicPeriod"/>
            </a:pPr>
            <a:r>
              <a:rPr lang="es-MX" dirty="0"/>
              <a:t>Fortalecer la articulación entre organizadores, lideres comunitarios y asistentes.</a:t>
            </a:r>
          </a:p>
          <a:p>
            <a:pPr marL="342900" indent="-342900">
              <a:buAutoNum type="arabicPeriod"/>
            </a:pPr>
            <a:r>
              <a:rPr lang="es-MX" dirty="0"/>
              <a:t>Evaluar el impacto de la estrategia de difusión en términos de alcance, participación y retroalimentación ciudadana.</a:t>
            </a:r>
            <a:endParaRPr lang="es-419" dirty="0">
              <a:latin typeface="Work Sans Bold Roman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3240D3-4C3B-40FB-9630-1E9BA24A6061}"/>
              </a:ext>
            </a:extLst>
          </p:cNvPr>
          <p:cNvSpPr txBox="1"/>
          <p:nvPr/>
        </p:nvSpPr>
        <p:spPr>
          <a:xfrm>
            <a:off x="6841846" y="2204134"/>
            <a:ext cx="48105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dirty="0"/>
              <a:t>Documentar requerimientos según la visión del usuario.</a:t>
            </a:r>
          </a:p>
          <a:p>
            <a:pPr marL="342900" indent="-342900">
              <a:buAutoNum type="arabicPeriod"/>
            </a:pPr>
            <a:r>
              <a:rPr lang="es-MX" dirty="0"/>
              <a:t>Diseñar una estructura del proyecto.</a:t>
            </a:r>
          </a:p>
          <a:p>
            <a:pPr marL="342900" indent="-342900">
              <a:buAutoNum type="arabicPeriod"/>
            </a:pPr>
            <a:r>
              <a:rPr lang="es-MX" dirty="0"/>
              <a:t>Desarrollo el software.</a:t>
            </a:r>
          </a:p>
          <a:p>
            <a:pPr marL="342900" indent="-342900">
              <a:buAutoNum type="arabicPeriod"/>
            </a:pPr>
            <a:r>
              <a:rPr lang="es-MX" dirty="0"/>
              <a:t>Generar la documentación necesaria.</a:t>
            </a:r>
          </a:p>
          <a:p>
            <a:pPr marL="342900" indent="-342900">
              <a:buAutoNum type="arabicPeriod"/>
            </a:pPr>
            <a:r>
              <a:rPr lang="es-MX" dirty="0">
                <a:latin typeface="Work Sans Bold Roman"/>
              </a:rPr>
              <a:t>Hacer un </a:t>
            </a:r>
            <a:r>
              <a:rPr lang="es-MX" dirty="0" err="1">
                <a:latin typeface="Work Sans Bold Roman"/>
              </a:rPr>
              <a:t>testing</a:t>
            </a:r>
            <a:r>
              <a:rPr lang="es-MX" dirty="0">
                <a:latin typeface="Work Sans Bold Roman"/>
              </a:rPr>
              <a:t> al software.</a:t>
            </a:r>
            <a:endParaRPr lang="es-419" dirty="0">
              <a:latin typeface="Work Sans Bold Roman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DA41145-D0DC-4EB1-93C4-0ABCA6E2B3EB}"/>
              </a:ext>
            </a:extLst>
          </p:cNvPr>
          <p:cNvSpPr txBox="1">
            <a:spLocks/>
          </p:cNvSpPr>
          <p:nvPr/>
        </p:nvSpPr>
        <p:spPr>
          <a:xfrm>
            <a:off x="6664627" y="1716710"/>
            <a:ext cx="4595848" cy="30128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s-419" sz="2000" b="1" dirty="0">
                <a:solidFill>
                  <a:srgbClr val="4D4D4C"/>
                </a:solidFill>
                <a:latin typeface="Work Sans Bold Roman"/>
              </a:rPr>
              <a:t>Analista</a:t>
            </a:r>
            <a:endParaRPr kumimoji="0" lang="es-CO" sz="1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AABC0A65-A612-48AF-B390-D3B23E5BA935}"/>
              </a:ext>
            </a:extLst>
          </p:cNvPr>
          <p:cNvSpPr txBox="1">
            <a:spLocks/>
          </p:cNvSpPr>
          <p:nvPr/>
        </p:nvSpPr>
        <p:spPr>
          <a:xfrm>
            <a:off x="931525" y="1716710"/>
            <a:ext cx="4595848" cy="30128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s-419" sz="2000" b="1" dirty="0">
                <a:solidFill>
                  <a:srgbClr val="4D4D4C"/>
                </a:solidFill>
                <a:latin typeface="Work Sans Bold Roman"/>
              </a:rPr>
              <a:t>Experiencia del usuario (</a:t>
            </a:r>
            <a:r>
              <a:rPr lang="es-419" sz="2000" b="1" dirty="0" err="1">
                <a:solidFill>
                  <a:srgbClr val="4D4D4C"/>
                </a:solidFill>
                <a:latin typeface="Work Sans Bold Roman"/>
              </a:rPr>
              <a:t>ux</a:t>
            </a:r>
            <a:r>
              <a:rPr lang="es-419" sz="2000" b="1" dirty="0">
                <a:solidFill>
                  <a:srgbClr val="4D4D4C"/>
                </a:solidFill>
                <a:latin typeface="Work Sans Bold Roman"/>
              </a:rPr>
              <a:t>)</a:t>
            </a:r>
            <a:endParaRPr kumimoji="0" lang="es-CO" sz="1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/>
            </a:endParaRP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1111556" y="10262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Alternativa. Breve descripción del proyecto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1111556" y="2274838"/>
            <a:ext cx="59598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Aumento en el número de visitantes nacionales e internacionales.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Mejora en la experiencia del turista gracias a la digitalización de la información y servicios.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Dinamización del comercio local y fortalecimiento del tejido empresarial turístico.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Creación de un ecosistema digital sostenible que sirva de modelo para otras regiones del país.</a:t>
            </a:r>
            <a:endParaRPr lang="es-CO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80261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0C46825-1C0D-8070-D013-3677F399B2A8}"/>
              </a:ext>
            </a:extLst>
          </p:cNvPr>
          <p:cNvSpPr txBox="1"/>
          <p:nvPr/>
        </p:nvSpPr>
        <p:spPr>
          <a:xfrm>
            <a:off x="707922" y="408613"/>
            <a:ext cx="2605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rgbClr val="38AA00"/>
                </a:solidFill>
                <a:latin typeface="WORK SANS BOLD ROMAN"/>
              </a:rPr>
              <a:t>Casos de uso</a:t>
            </a:r>
            <a:endParaRPr lang="es-CO" sz="3600" dirty="0">
              <a:solidFill>
                <a:srgbClr val="38AA00"/>
              </a:solidFill>
              <a:latin typeface="WORK SANS BOLD ROMAN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30601EF-F53F-6E21-BC19-12FC39DEC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279438"/>
              </p:ext>
            </p:extLst>
          </p:nvPr>
        </p:nvGraphicFramePr>
        <p:xfrm>
          <a:off x="901987" y="1966531"/>
          <a:ext cx="4046220" cy="29249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9138">
                  <a:extLst>
                    <a:ext uri="{9D8B030D-6E8A-4147-A177-3AD203B41FA5}">
                      <a16:colId xmlns:a16="http://schemas.microsoft.com/office/drawing/2014/main" val="1339734216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3240133703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41604485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Caso de Uso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>
                          <a:effectLst/>
                        </a:rPr>
                        <a:t>Registrarse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697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Descripción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Los visitantes pueden registrarse en el sistema.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2019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Precondición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visitante tiene acceso al sistema.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886001"/>
                  </a:ext>
                </a:extLst>
              </a:tr>
              <a:tr h="133350"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Secuencia</a:t>
                      </a:r>
                      <a:endParaRPr lang="es-CO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Normal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Paso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7552369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al sistema.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1351739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 la opción ‘Únete’ y en ‘regístrate aquí’.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9051690"/>
                  </a:ext>
                </a:extLst>
              </a:tr>
              <a:tr h="15938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Llenar, completar y enviar el formulario.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167499"/>
                  </a:ext>
                </a:extLst>
              </a:tr>
              <a:tr h="15938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4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Validar la cuenta con un link enviado al correo.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1996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Pos 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usuario puede acceder al sistema con un usuario.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816281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Excepciones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235410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 dirty="0">
                          <a:effectLst/>
                        </a:rPr>
                        <a:t>No tener acceso a internet.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2807428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816ADC5-7F59-D0F4-DC10-202140CA2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27594"/>
              </p:ext>
            </p:extLst>
          </p:nvPr>
        </p:nvGraphicFramePr>
        <p:xfrm>
          <a:off x="6683355" y="2057462"/>
          <a:ext cx="4046220" cy="27430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9138">
                  <a:extLst>
                    <a:ext uri="{9D8B030D-6E8A-4147-A177-3AD203B41FA5}">
                      <a16:colId xmlns:a16="http://schemas.microsoft.com/office/drawing/2014/main" val="2562531057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525026864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131558438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Caso de Uso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>
                          <a:effectLst/>
                        </a:rPr>
                        <a:t>Iniciar Sesión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841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Descripción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Los usuarios pueden acceder al sistema.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092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Precondición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usuario tiene acceso al sistema y estar registrado.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102998"/>
                  </a:ext>
                </a:extLst>
              </a:tr>
              <a:tr h="164465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Secuencia</a:t>
                      </a:r>
                      <a:endParaRPr lang="es-CO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Normal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Paso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7734398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al sistema.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1368447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 la opción ‘Únete’.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5125887"/>
                  </a:ext>
                </a:extLst>
              </a:tr>
              <a:tr h="15938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Completar los datos que solicita para el acceso y clic en ‘Iniciar Sesión’.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09823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Pos 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usuario puede dejar comentarios, valoraciones y solicitar ser promotor de eventos.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832088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Excepciones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861720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 dirty="0">
                          <a:effectLst/>
                        </a:rPr>
                        <a:t>El usuario no está registrado no puede iniciar sesión.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4683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596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0B27F-78A1-7FD1-4528-8FB53DAF6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55167E-9F4A-7CAA-FF9D-7E0F03E7206A}"/>
              </a:ext>
            </a:extLst>
          </p:cNvPr>
          <p:cNvSpPr txBox="1"/>
          <p:nvPr/>
        </p:nvSpPr>
        <p:spPr>
          <a:xfrm>
            <a:off x="707922" y="408613"/>
            <a:ext cx="2605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rgbClr val="38AA00"/>
                </a:solidFill>
                <a:latin typeface="WORK SANS BOLD ROMAN"/>
              </a:rPr>
              <a:t>Casos de uso</a:t>
            </a:r>
            <a:endParaRPr lang="es-CO" sz="3600" dirty="0">
              <a:solidFill>
                <a:srgbClr val="38AA00"/>
              </a:solidFill>
              <a:latin typeface="WORK SANS BOLD ROMAN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F41271F-D7DF-10CF-7A6C-04F5C9D2A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15187"/>
              </p:ext>
            </p:extLst>
          </p:nvPr>
        </p:nvGraphicFramePr>
        <p:xfrm>
          <a:off x="6993071" y="1929053"/>
          <a:ext cx="4046220" cy="33867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9138">
                  <a:extLst>
                    <a:ext uri="{9D8B030D-6E8A-4147-A177-3AD203B41FA5}">
                      <a16:colId xmlns:a16="http://schemas.microsoft.com/office/drawing/2014/main" val="3816908825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2555783990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127862028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Caso de Uso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>
                          <a:effectLst/>
                        </a:rPr>
                        <a:t>Crear Eventos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442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Descripción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Los promotores pueden crear eventos.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4106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Precondición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promotor tuvo que haber sido validado por un moderador o administrador.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401321"/>
                  </a:ext>
                </a:extLst>
              </a:tr>
              <a:tr h="133350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Secuencia</a:t>
                      </a:r>
                      <a:endParaRPr lang="es-CO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Normal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Paso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2197757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al sistema con la cuenta de promotor.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235415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 la opción ‘Crear eventos’ (opción habilitada en el menú).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3665501"/>
                  </a:ext>
                </a:extLst>
              </a:tr>
              <a:tr h="15938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Llenar los datos solicitados para crear un evento y enviar la solicitud.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3725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Pos 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promotor deberá de esperar a que el moderador o administrador valide y apruebe el evento.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806346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Excepciones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188237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 dirty="0">
                          <a:effectLst/>
                        </a:rPr>
                        <a:t>No podrá crear un evento si no fue validado como promotor de eventos.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0040600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8DE4451-4865-B132-D962-90106F96F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903342"/>
              </p:ext>
            </p:extLst>
          </p:nvPr>
        </p:nvGraphicFramePr>
        <p:xfrm>
          <a:off x="1152709" y="1929053"/>
          <a:ext cx="4046220" cy="33867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9138">
                  <a:extLst>
                    <a:ext uri="{9D8B030D-6E8A-4147-A177-3AD203B41FA5}">
                      <a16:colId xmlns:a16="http://schemas.microsoft.com/office/drawing/2014/main" val="883841846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1798793627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176729142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Caso de Uso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>
                          <a:effectLst/>
                        </a:rPr>
                        <a:t>Promotor de Eventos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246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Descripción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Los usuarios que se encuentren registrados solicitar cambiar el tipo de usuario a ‘promotor’ de eventos.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8417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Precondición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usuario tiene acceso al sistema y un usuario.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188666"/>
                  </a:ext>
                </a:extLst>
              </a:tr>
              <a:tr h="133350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Secuencia</a:t>
                      </a:r>
                      <a:endParaRPr lang="es-CO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Normal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Paso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5281072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al sistema con la cuenta personal.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7735967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Ingresar al perfil y acceder a la opción ‘Ser Promotor’.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0303253"/>
                  </a:ext>
                </a:extLst>
              </a:tr>
              <a:tr h="15938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Llenar el formulario y cargar la documentación (soportes en PDF) y enviar la solicitud.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77646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Pos 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usuario deberá de esperar a que él moderador o administrador apruebe la solicitud.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624207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Excepciones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191481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 dirty="0">
                          <a:effectLst/>
                        </a:rPr>
                        <a:t>No podrá solicitar el cambio de usuario si no está vinculado con algún entidad pública o privada.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504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963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7671-66C3-C5EF-BE5F-337FFA02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8B2A2F9-C3CE-C1F4-FD65-D84013F30BDC}"/>
              </a:ext>
            </a:extLst>
          </p:cNvPr>
          <p:cNvSpPr txBox="1"/>
          <p:nvPr/>
        </p:nvSpPr>
        <p:spPr>
          <a:xfrm>
            <a:off x="707922" y="408613"/>
            <a:ext cx="2605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rgbClr val="38AA00"/>
                </a:solidFill>
                <a:latin typeface="WORK SANS BOLD ROMAN"/>
              </a:rPr>
              <a:t>Casos de uso</a:t>
            </a:r>
            <a:endParaRPr lang="es-CO" sz="3600" dirty="0">
              <a:solidFill>
                <a:srgbClr val="38AA00"/>
              </a:solidFill>
              <a:latin typeface="WORK SANS BOLD ROMAN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32437EE-82ED-2235-A13B-AFB661A98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238715"/>
              </p:ext>
            </p:extLst>
          </p:nvPr>
        </p:nvGraphicFramePr>
        <p:xfrm>
          <a:off x="6993071" y="1628749"/>
          <a:ext cx="4046220" cy="38686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9138">
                  <a:extLst>
                    <a:ext uri="{9D8B030D-6E8A-4147-A177-3AD203B41FA5}">
                      <a16:colId xmlns:a16="http://schemas.microsoft.com/office/drawing/2014/main" val="341882410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45134807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5190237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Caso de Uso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>
                          <a:effectLst/>
                        </a:rPr>
                        <a:t>Reservar Asistencia a un Evento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0157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Descripción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Los usuarios pueden reservar una entrada al evento.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4290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Precondición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usuario debe saber a cuál evento desea asistir y si el evento permite hacer una reserva.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65853"/>
                  </a:ext>
                </a:extLst>
              </a:tr>
              <a:tr h="133350"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Secuencia</a:t>
                      </a:r>
                      <a:endParaRPr lang="es-CO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Normal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Paso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8071499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al sistema como usuario.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2605874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al sistema y acceder a ‘Eventos’ en el menú.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2085724"/>
                  </a:ext>
                </a:extLst>
              </a:tr>
              <a:tr h="15938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Digitar en la barra de búsqueda el nombre del evento o palabra clave (Opcional: filtrar por categoría y fecha).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8878012"/>
                  </a:ext>
                </a:extLst>
              </a:tr>
              <a:tr h="15938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4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Realizar la reserva del evento en el botón ‘Reservar’.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18738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Pos 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La reserva para asistir al evento queda realizada.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8059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Excepciones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584303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 dirty="0">
                          <a:effectLst/>
                        </a:rPr>
                        <a:t>No podrá reservar su asistencia si no cuenta con un usuario.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111693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3A6DE84-BE9A-9811-D40B-AFA255D5D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337335"/>
              </p:ext>
            </p:extLst>
          </p:nvPr>
        </p:nvGraphicFramePr>
        <p:xfrm>
          <a:off x="1152709" y="1951265"/>
          <a:ext cx="4046220" cy="32236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9138">
                  <a:extLst>
                    <a:ext uri="{9D8B030D-6E8A-4147-A177-3AD203B41FA5}">
                      <a16:colId xmlns:a16="http://schemas.microsoft.com/office/drawing/2014/main" val="2228985946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1479789473"/>
                    </a:ext>
                  </a:extLst>
                </a:gridCol>
                <a:gridCol w="1663541">
                  <a:extLst>
                    <a:ext uri="{9D8B030D-6E8A-4147-A177-3AD203B41FA5}">
                      <a16:colId xmlns:a16="http://schemas.microsoft.com/office/drawing/2014/main" val="12033122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Caso de Uso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>
                          <a:effectLst/>
                        </a:rPr>
                        <a:t>Valoración y Comentario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536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Descripción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Los usuarios que se encuentren registrados en el sistema pueden dejar comentarios y valoraciones en los eventos.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3330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Precondición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usuario tiene acceso al sistema, un usuario y haber asistido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88822"/>
                  </a:ext>
                </a:extLst>
              </a:tr>
              <a:tr h="133350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Secuencia</a:t>
                      </a:r>
                      <a:endParaRPr lang="es-CO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Normal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Paso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0331810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Acceder al sistema con la cuenta personal.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2659652"/>
                  </a:ext>
                </a:extLst>
              </a:tr>
              <a:tr h="1333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Buscar un evento.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086778"/>
                  </a:ext>
                </a:extLst>
              </a:tr>
              <a:tr h="15938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El usuario califica a una escala del 1 al 5 (con estrellas) y/o un comentario.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44991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Pos condición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Se mostrará el valor promedio de los usuarios que calificaron el evento y los comentarios en los eventos.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752707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Excepciones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>
                          <a:effectLst/>
                        </a:rPr>
                        <a:t>Acción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264278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000" dirty="0">
                          <a:effectLst/>
                        </a:rPr>
                        <a:t>Si el usuario no está registrado no podrá valorar y dejar un comentario en el evento.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3131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06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05EC-55AF-BC1A-8D08-1C050872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423ECE8-FC08-11ED-ADA7-5AB96E9C5C9E}"/>
              </a:ext>
            </a:extLst>
          </p:cNvPr>
          <p:cNvSpPr txBox="1"/>
          <p:nvPr/>
        </p:nvSpPr>
        <p:spPr>
          <a:xfrm>
            <a:off x="888417" y="296213"/>
            <a:ext cx="3039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rgbClr val="38AA00"/>
                </a:solidFill>
                <a:latin typeface="WORK SANS BOLD ROMAN"/>
              </a:rPr>
              <a:t>M. Caso de uso</a:t>
            </a:r>
            <a:endParaRPr lang="es-CO" sz="3600" dirty="0">
              <a:solidFill>
                <a:srgbClr val="38AA00"/>
              </a:solidFill>
              <a:latin typeface="WORK SANS BOLD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8D81DD-2B55-63C7-5594-A09A8BF96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548" y="942544"/>
            <a:ext cx="7274903" cy="522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77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77EC37-2AB2-42D4-87E2-EEDDF61AA1BD}"/>
              </a:ext>
            </a:extLst>
          </p:cNvPr>
          <p:cNvSpPr txBox="1"/>
          <p:nvPr/>
        </p:nvSpPr>
        <p:spPr>
          <a:xfrm>
            <a:off x="888417" y="296213"/>
            <a:ext cx="829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rgbClr val="38AA00"/>
                </a:solidFill>
                <a:latin typeface="WORK SANS BOLD ROMAN"/>
              </a:rPr>
              <a:t>MR</a:t>
            </a:r>
            <a:endParaRPr lang="es-CO" sz="3600" dirty="0">
              <a:solidFill>
                <a:srgbClr val="38AA00"/>
              </a:solidFill>
              <a:latin typeface="WORK SANS BOLD ROMAN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795168E-9FDC-8BA2-8907-59CB1ACE6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490" y="718200"/>
            <a:ext cx="10053484" cy="584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47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BACBE06-CD3D-D9C3-080F-204726EBE706}"/>
              </a:ext>
            </a:extLst>
          </p:cNvPr>
          <p:cNvSpPr txBox="1"/>
          <p:nvPr/>
        </p:nvSpPr>
        <p:spPr>
          <a:xfrm>
            <a:off x="888417" y="296213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rgbClr val="38AA00"/>
                </a:solidFill>
                <a:latin typeface="WORK SANS BOLD ROMAN"/>
              </a:rPr>
              <a:t>MER</a:t>
            </a:r>
            <a:endParaRPr lang="es-CO" sz="3600" dirty="0">
              <a:solidFill>
                <a:srgbClr val="38AA00"/>
              </a:solidFill>
              <a:latin typeface="WORK SANS BOLD ROMAN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E55E15-6BAE-C15A-0905-3308A5F9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764" y="646331"/>
            <a:ext cx="5976533" cy="610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33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E03530B-9FDA-4037-8E0D-F97B772B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003" y="479449"/>
            <a:ext cx="2798742" cy="589910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7726C75-0947-0DB6-33DD-523D1A4B0AEF}"/>
              </a:ext>
            </a:extLst>
          </p:cNvPr>
          <p:cNvSpPr txBox="1"/>
          <p:nvPr/>
        </p:nvSpPr>
        <p:spPr>
          <a:xfrm>
            <a:off x="615855" y="296213"/>
            <a:ext cx="33448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rgbClr val="38AA00"/>
                </a:solidFill>
                <a:latin typeface="WORK SANS BOLD ROMAN"/>
              </a:rPr>
              <a:t>Esquema de procesos</a:t>
            </a:r>
            <a:endParaRPr lang="es-CO" sz="2800" dirty="0">
              <a:solidFill>
                <a:srgbClr val="38AA00"/>
              </a:solidFill>
              <a:latin typeface="WORK SANS BOLD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0818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8AB82-8C3A-7DDC-BFC6-B172B401E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B972D0B-7E80-4FAE-A2BC-4F0305AE7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593" y="244365"/>
            <a:ext cx="3134814" cy="636926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8B0E807-E959-01DC-CF9E-3D43E5E26827}"/>
              </a:ext>
            </a:extLst>
          </p:cNvPr>
          <p:cNvSpPr txBox="1"/>
          <p:nvPr/>
        </p:nvSpPr>
        <p:spPr>
          <a:xfrm>
            <a:off x="721363" y="296213"/>
            <a:ext cx="33448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rgbClr val="38AA00"/>
                </a:solidFill>
                <a:latin typeface="WORK SANS BOLD ROMAN"/>
              </a:rPr>
              <a:t>Esquema de procesos</a:t>
            </a:r>
            <a:endParaRPr lang="es-CO" sz="2800" dirty="0">
              <a:solidFill>
                <a:srgbClr val="38AA00"/>
              </a:solidFill>
              <a:latin typeface="WORK SANS BOLD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3228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8AB82-8C3A-7DDC-BFC6-B172B401E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A863D4-3BFD-4CF8-AD8A-37E001097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558" y="228047"/>
            <a:ext cx="4580883" cy="640190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8B0E807-E959-01DC-CF9E-3D43E5E26827}"/>
              </a:ext>
            </a:extLst>
          </p:cNvPr>
          <p:cNvSpPr txBox="1"/>
          <p:nvPr/>
        </p:nvSpPr>
        <p:spPr>
          <a:xfrm>
            <a:off x="460732" y="296213"/>
            <a:ext cx="33448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rgbClr val="38AA00"/>
                </a:solidFill>
                <a:latin typeface="WORK SANS BOLD ROMAN"/>
              </a:rPr>
              <a:t>Esquema de procesos</a:t>
            </a:r>
            <a:endParaRPr lang="es-CO" sz="2800" dirty="0">
              <a:solidFill>
                <a:srgbClr val="38AA00"/>
              </a:solidFill>
              <a:latin typeface="WORK SANS BOLD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1896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5B143-E8E7-0039-6899-FCE646F5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B44A39E-998E-1665-9119-71462FB7CC20}"/>
              </a:ext>
            </a:extLst>
          </p:cNvPr>
          <p:cNvSpPr txBox="1"/>
          <p:nvPr/>
        </p:nvSpPr>
        <p:spPr>
          <a:xfrm>
            <a:off x="460732" y="296213"/>
            <a:ext cx="1371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rgbClr val="38AA00"/>
                </a:solidFill>
                <a:latin typeface="WORK SANS BOLD ROMAN"/>
              </a:rPr>
              <a:t>Mockup</a:t>
            </a:r>
            <a:endParaRPr lang="es-CO" sz="2800" dirty="0">
              <a:solidFill>
                <a:srgbClr val="38AA00"/>
              </a:solidFill>
              <a:latin typeface="WORK SANS BOLD ROMAN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FDF15AB-FF71-CAF7-26D9-E4C7F05DE4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104" y="7062893"/>
            <a:ext cx="5213985" cy="1437005"/>
          </a:xfrm>
          <a:prstGeom prst="rect">
            <a:avLst/>
          </a:prstGeom>
        </p:spPr>
      </p:pic>
      <p:pic>
        <p:nvPicPr>
          <p:cNvPr id="4" name="Imagen 3" descr="WhatsApp Image 2025-10-02 at 2.17.58 PM">
            <a:extLst>
              <a:ext uri="{FF2B5EF4-FFF2-40B4-BE49-F238E27FC236}">
                <a16:creationId xmlns:a16="http://schemas.microsoft.com/office/drawing/2014/main" id="{E7F09131-4350-3AC5-0B28-B7DEEF691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14" y="1236345"/>
            <a:ext cx="4371340" cy="2192655"/>
          </a:xfrm>
          <a:prstGeom prst="rect">
            <a:avLst/>
          </a:prstGeom>
        </p:spPr>
      </p:pic>
      <p:pic>
        <p:nvPicPr>
          <p:cNvPr id="6" name="Imagen 5" descr="WhatsApp Image 2025-10-02 at 2.18.12 PM">
            <a:extLst>
              <a:ext uri="{FF2B5EF4-FFF2-40B4-BE49-F238E27FC236}">
                <a16:creationId xmlns:a16="http://schemas.microsoft.com/office/drawing/2014/main" id="{0ACC58A3-EFE7-F78B-B43F-A01500672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94" y="3569335"/>
            <a:ext cx="4378960" cy="2052320"/>
          </a:xfrm>
          <a:prstGeom prst="rect">
            <a:avLst/>
          </a:prstGeom>
        </p:spPr>
      </p:pic>
      <p:pic>
        <p:nvPicPr>
          <p:cNvPr id="7" name="Imagen 6" descr="WhatsApp Image 2025-10-02 at 2.18.25 PM">
            <a:extLst>
              <a:ext uri="{FF2B5EF4-FFF2-40B4-BE49-F238E27FC236}">
                <a16:creationId xmlns:a16="http://schemas.microsoft.com/office/drawing/2014/main" id="{D07643B9-2272-07F2-03FE-79FC6A4CD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490" y="2106130"/>
            <a:ext cx="4457700" cy="1072515"/>
          </a:xfrm>
          <a:prstGeom prst="rect">
            <a:avLst/>
          </a:prstGeom>
        </p:spPr>
      </p:pic>
      <p:pic>
        <p:nvPicPr>
          <p:cNvPr id="8" name="Imagen 7" descr="WhatsApp Image 2025-10-02 at 2.18.35 PM">
            <a:extLst>
              <a:ext uri="{FF2B5EF4-FFF2-40B4-BE49-F238E27FC236}">
                <a16:creationId xmlns:a16="http://schemas.microsoft.com/office/drawing/2014/main" id="{CAA7E3F2-F33E-2D29-BB0B-03DF233CB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275168"/>
            <a:ext cx="4678680" cy="204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87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EE0D-C09F-240D-A904-515B5C93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D450427-8C0F-B3B7-1DC8-AD2ADDF62E14}"/>
              </a:ext>
            </a:extLst>
          </p:cNvPr>
          <p:cNvSpPr txBox="1"/>
          <p:nvPr/>
        </p:nvSpPr>
        <p:spPr>
          <a:xfrm>
            <a:off x="460732" y="296213"/>
            <a:ext cx="1371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rgbClr val="38AA00"/>
                </a:solidFill>
                <a:latin typeface="WORK SANS BOLD ROMAN"/>
              </a:rPr>
              <a:t>Mockup</a:t>
            </a:r>
            <a:endParaRPr lang="es-CO" sz="2800" dirty="0">
              <a:solidFill>
                <a:srgbClr val="38AA00"/>
              </a:solidFill>
              <a:latin typeface="WORK SANS BOLD ROMAN"/>
            </a:endParaRPr>
          </a:p>
        </p:txBody>
      </p:sp>
      <p:pic>
        <p:nvPicPr>
          <p:cNvPr id="5" name="Imagen 4" descr="WhatsApp Image 2025-10-02 at 2.18.48 PM">
            <a:extLst>
              <a:ext uri="{FF2B5EF4-FFF2-40B4-BE49-F238E27FC236}">
                <a16:creationId xmlns:a16="http://schemas.microsoft.com/office/drawing/2014/main" id="{3AB37CBF-FC0B-D837-DD10-C2246A94C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013" y="1191096"/>
            <a:ext cx="4673600" cy="2352040"/>
          </a:xfrm>
          <a:prstGeom prst="rect">
            <a:avLst/>
          </a:prstGeom>
        </p:spPr>
      </p:pic>
      <p:pic>
        <p:nvPicPr>
          <p:cNvPr id="6" name="Imagen 5" descr="WhatsApp Image 2025-10-02 at 2.18.59 PM">
            <a:extLst>
              <a:ext uri="{FF2B5EF4-FFF2-40B4-BE49-F238E27FC236}">
                <a16:creationId xmlns:a16="http://schemas.microsoft.com/office/drawing/2014/main" id="{FDD6E912-EC78-7E1B-FEBD-684BF88DF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68" y="3678667"/>
            <a:ext cx="4627245" cy="2332355"/>
          </a:xfrm>
          <a:prstGeom prst="rect">
            <a:avLst/>
          </a:prstGeom>
        </p:spPr>
      </p:pic>
      <p:pic>
        <p:nvPicPr>
          <p:cNvPr id="7" name="Imagen 6" descr="WhatsApp Image 2025-10-02 at 2.20.09 PM">
            <a:extLst>
              <a:ext uri="{FF2B5EF4-FFF2-40B4-BE49-F238E27FC236}">
                <a16:creationId xmlns:a16="http://schemas.microsoft.com/office/drawing/2014/main" id="{6C3AD417-8EAF-90C5-4C89-FAA20CC6B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801" y="1227967"/>
            <a:ext cx="4768850" cy="239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86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457D0-511C-C3DB-70E7-BBE64404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C33CC8-DDBC-A066-DF12-E229F791F2B0}"/>
              </a:ext>
            </a:extLst>
          </p:cNvPr>
          <p:cNvSpPr txBox="1"/>
          <p:nvPr/>
        </p:nvSpPr>
        <p:spPr>
          <a:xfrm>
            <a:off x="460732" y="296213"/>
            <a:ext cx="1371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rgbClr val="38AA00"/>
                </a:solidFill>
                <a:latin typeface="WORK SANS BOLD ROMAN"/>
              </a:rPr>
              <a:t>Mockup</a:t>
            </a:r>
            <a:endParaRPr lang="es-CO" sz="2800" dirty="0">
              <a:solidFill>
                <a:srgbClr val="38AA00"/>
              </a:solidFill>
              <a:latin typeface="WORK SANS BOLD ROMAN"/>
            </a:endParaRPr>
          </a:p>
        </p:txBody>
      </p:sp>
      <p:pic>
        <p:nvPicPr>
          <p:cNvPr id="5" name="Imagen 4" descr="WhatsApp Image 2025-10-02 at 2.20.41 PM">
            <a:extLst>
              <a:ext uri="{FF2B5EF4-FFF2-40B4-BE49-F238E27FC236}">
                <a16:creationId xmlns:a16="http://schemas.microsoft.com/office/drawing/2014/main" id="{DB7B150F-BDDB-8D56-66CD-7F18F399C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864" y="2005646"/>
            <a:ext cx="2110105" cy="2846705"/>
          </a:xfrm>
          <a:prstGeom prst="rect">
            <a:avLst/>
          </a:prstGeom>
        </p:spPr>
      </p:pic>
      <p:pic>
        <p:nvPicPr>
          <p:cNvPr id="6" name="Imagen 5" descr="WhatsApp Image 2025-10-02 at 2.21.00 PM">
            <a:extLst>
              <a:ext uri="{FF2B5EF4-FFF2-40B4-BE49-F238E27FC236}">
                <a16:creationId xmlns:a16="http://schemas.microsoft.com/office/drawing/2014/main" id="{78D7B933-2DB6-9354-C347-D6A6E36E6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264" y="1173162"/>
            <a:ext cx="1903730" cy="451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37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AFDA2-FDBA-CD90-68F3-DBAFC2AC0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D57911A-E9B7-2B30-89D8-165B0F4E6BBB}"/>
              </a:ext>
            </a:extLst>
          </p:cNvPr>
          <p:cNvSpPr txBox="1"/>
          <p:nvPr/>
        </p:nvSpPr>
        <p:spPr>
          <a:xfrm>
            <a:off x="460732" y="296213"/>
            <a:ext cx="1490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rgbClr val="38AA00"/>
                </a:solidFill>
                <a:latin typeface="WORK SANS BOLD ROMAN"/>
              </a:rPr>
              <a:t>Software</a:t>
            </a:r>
            <a:endParaRPr lang="es-CO" sz="2800" dirty="0">
              <a:solidFill>
                <a:srgbClr val="38AA00"/>
              </a:solidFill>
              <a:latin typeface="WORK SANS BOLD ROMAN"/>
            </a:endParaRPr>
          </a:p>
        </p:txBody>
      </p:sp>
      <p:pic>
        <p:nvPicPr>
          <p:cNvPr id="4098" name="Picture 2" descr="Next.js Logo - PNG Logo Vector Brand Downloads (SVG, EPS)">
            <a:extLst>
              <a:ext uri="{FF2B5EF4-FFF2-40B4-BE49-F238E27FC236}">
                <a16:creationId xmlns:a16="http://schemas.microsoft.com/office/drawing/2014/main" id="{F13D3076-20BC-C9F6-CEC8-A057BCDA0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517" y="1224116"/>
            <a:ext cx="2959510" cy="184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itHub - devsujay19/TS-Logo: This is the classic TypeScript Logo ...">
            <a:extLst>
              <a:ext uri="{FF2B5EF4-FFF2-40B4-BE49-F238E27FC236}">
                <a16:creationId xmlns:a16="http://schemas.microsoft.com/office/drawing/2014/main" id="{54C6EA0C-C0F1-5232-4885-6F9BD07AFE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84" b="25076"/>
          <a:stretch>
            <a:fillRect/>
          </a:stretch>
        </p:blipFill>
        <p:spPr bwMode="auto">
          <a:xfrm>
            <a:off x="6060076" y="1533831"/>
            <a:ext cx="3349395" cy="123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Logo Css Css3 - Image gratuite sur Pixabay">
            <a:extLst>
              <a:ext uri="{FF2B5EF4-FFF2-40B4-BE49-F238E27FC236}">
                <a16:creationId xmlns:a16="http://schemas.microsoft.com/office/drawing/2014/main" id="{0DC64072-855D-6A8D-B7DD-48D176689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517" y="3360506"/>
            <a:ext cx="2153265" cy="215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PostgreSQL logo in PNG SVG Vector format - Free Download">
            <a:extLst>
              <a:ext uri="{FF2B5EF4-FFF2-40B4-BE49-F238E27FC236}">
                <a16:creationId xmlns:a16="http://schemas.microsoft.com/office/drawing/2014/main" id="{14490C5D-AA4F-7263-7E02-1E97472DE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9" t="33549" r="21849" b="35054"/>
          <a:stretch>
            <a:fillRect/>
          </a:stretch>
        </p:blipFill>
        <p:spPr bwMode="auto">
          <a:xfrm>
            <a:off x="5804186" y="3406878"/>
            <a:ext cx="3861174" cy="215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308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Cronograma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A5AED9-589E-4322-80F3-6ECC6926E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30" y="1621660"/>
            <a:ext cx="8839200" cy="496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67C6271-08B4-77E3-60B7-1B97F4CE02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2262033"/>
            <a:ext cx="7772400" cy="3491402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Costos</a:t>
            </a:r>
          </a:p>
        </p:txBody>
      </p:sp>
    </p:spTree>
    <p:extLst>
      <p:ext uri="{BB962C8B-B14F-4D97-AF65-F5344CB8AC3E}">
        <p14:creationId xmlns:p14="http://schemas.microsoft.com/office/powerpoint/2010/main" val="3927921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6389</TotalTime>
  <Words>1277</Words>
  <Application>Microsoft Office PowerPoint</Application>
  <PresentationFormat>Panorámica</PresentationFormat>
  <Paragraphs>225</Paragraphs>
  <Slides>29</Slides>
  <Notes>0</Notes>
  <HiddenSlides>5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40" baseType="lpstr">
      <vt:lpstr>Aptos Narrow</vt:lpstr>
      <vt:lpstr>Arial</vt:lpstr>
      <vt:lpstr>Arial Black</vt:lpstr>
      <vt:lpstr>Arial Rounded MT Bold</vt:lpstr>
      <vt:lpstr>Calibri</vt:lpstr>
      <vt:lpstr>Calibri Light</vt:lpstr>
      <vt:lpstr>WORK SANS BOLD ROMAN</vt:lpstr>
      <vt:lpstr>WORK SANS BOLD ROMAN</vt:lpstr>
      <vt:lpstr>Work Sans Light Roman</vt:lpstr>
      <vt:lpstr>Work Sans Medium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User</cp:lastModifiedBy>
  <cp:revision>102</cp:revision>
  <dcterms:created xsi:type="dcterms:W3CDTF">2020-10-01T23:51:28Z</dcterms:created>
  <dcterms:modified xsi:type="dcterms:W3CDTF">2025-10-03T15:00:24Z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